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640" r:id="rId5"/>
    <p:sldId id="663" r:id="rId6"/>
    <p:sldId id="61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2E7"/>
    <a:srgbClr val="4B9382"/>
    <a:srgbClr val="006657"/>
    <a:srgbClr val="A2BAAD"/>
    <a:srgbClr val="366A5E"/>
    <a:srgbClr val="DACAA3"/>
    <a:srgbClr val="A02041"/>
    <a:srgbClr val="009A84"/>
    <a:srgbClr val="7D1734"/>
    <a:srgbClr val="2141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CBA7A-D4CA-F353-C33D-694CB101B672}" v="5" dt="2026-04-21T19:37:13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0278-8D93-4971-959B-30FDA7EA7310}" type="datetimeFigureOut">
              <a:rPr lang="es-MX" smtClean="0"/>
              <a:t>07/09/2026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1DC5-B448-4A8E-9CAE-ABADC08955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995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54A0-EA03-9865-8C18-6141FD1E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4C3A20-5FC0-A51C-4763-C01231D8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6D69BDE-D488-EDD1-EE3A-DF76FA097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29F7F7-CB3F-2BC2-B2C5-44DAA8172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491DC5-B448-4A8E-9CAE-ABADC08955B2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04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at-sai.imssbienestar.gob.mx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at-sai.imssbienestar.gob.mx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at-sai.imssbienestar.gob.mx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 descr="Texto, Carta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 t="8373"/>
          <a:stretch/>
        </p:blipFill>
        <p:spPr>
          <a:xfrm>
            <a:off x="0" y="-74428"/>
            <a:ext cx="12192000" cy="628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/>
          <p:nvPr/>
        </p:nvSpPr>
        <p:spPr>
          <a:xfrm>
            <a:off x="564558" y="4763385"/>
            <a:ext cx="3007982" cy="135033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859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spitales que reportan en modelo centinela">
  <p:cSld name="Hospitales que reportan en modelo centinel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5FF1890-169D-5B61-B53E-533C7F6C5673}"/>
              </a:ext>
            </a:extLst>
          </p:cNvPr>
          <p:cNvGrpSpPr>
            <a:grpSpLocks/>
          </p:cNvGrpSpPr>
          <p:nvPr userDrawn="1"/>
        </p:nvGrpSpPr>
        <p:grpSpPr>
          <a:xfrm>
            <a:off x="-18250" y="-1"/>
            <a:ext cx="12210250" cy="6858001"/>
            <a:chOff x="-18250" y="-1"/>
            <a:chExt cx="12210250" cy="6858001"/>
          </a:xfrm>
        </p:grpSpPr>
        <p:pic>
          <p:nvPicPr>
            <p:cNvPr id="27" name="Google Shape;27;p16" descr="Patrón de fondo&#10;&#10;Descripción generada automáticamente"/>
            <p:cNvPicPr preferRelativeResize="0">
              <a:picLocks/>
            </p:cNvPicPr>
            <p:nvPr/>
          </p:nvPicPr>
          <p:blipFill rotWithShape="1">
            <a:blip r:embed="rId2">
              <a:alphaModFix/>
            </a:blip>
            <a:srcRect l="-2" r="17779" b="17778"/>
            <a:stretch/>
          </p:blipFill>
          <p:spPr>
            <a:xfrm>
              <a:off x="-18250" y="-1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Google Shape;27;p16" descr="Patrón de fondo&#10;&#10;Descripción generada automáticamente">
              <a:extLst>
                <a:ext uri="{FF2B5EF4-FFF2-40B4-BE49-F238E27FC236}">
                  <a16:creationId xmlns:a16="http://schemas.microsoft.com/office/drawing/2014/main" id="{3C2726DD-7CEA-ACC6-6217-D01092323B86}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alphaModFix/>
            </a:blip>
            <a:srcRect l="95052"/>
            <a:stretch/>
          </p:blipFill>
          <p:spPr>
            <a:xfrm>
              <a:off x="11588689" y="0"/>
              <a:ext cx="603311" cy="6858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5061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ndencia diaria de surtimiento de recetas completas">
  <p:cSld name="Tendencia diaria de surtimiento de recetas completa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7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72756" y="-31836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 txBox="1"/>
          <p:nvPr/>
        </p:nvSpPr>
        <p:spPr>
          <a:xfrm>
            <a:off x="756345" y="262860"/>
            <a:ext cx="812489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Tendencia diaria de surtimiento de recetas completas</a:t>
            </a:r>
            <a:endParaRPr/>
          </a:p>
        </p:txBody>
      </p:sp>
      <p:sp>
        <p:nvSpPr>
          <p:cNvPr id="33" name="Google Shape;33;p17"/>
          <p:cNvSpPr>
            <a:spLocks noGrp="1"/>
          </p:cNvSpPr>
          <p:nvPr>
            <p:ph type="chart" idx="2"/>
          </p:nvPr>
        </p:nvSpPr>
        <p:spPr>
          <a:xfrm>
            <a:off x="647315" y="1745770"/>
            <a:ext cx="10841679" cy="401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/>
          <p:nvPr/>
        </p:nvSpPr>
        <p:spPr>
          <a:xfrm>
            <a:off x="580008" y="6471822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5" name="Google Shape;3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7"/>
          <p:cNvSpPr/>
          <p:nvPr/>
        </p:nvSpPr>
        <p:spPr>
          <a:xfrm>
            <a:off x="756345" y="670418"/>
            <a:ext cx="794431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/>
        </p:nvSpPr>
        <p:spPr>
          <a:xfrm>
            <a:off x="888362" y="60963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2003733" y="64438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9" name="Google Shape;3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 txBox="1"/>
          <p:nvPr/>
        </p:nvSpPr>
        <p:spPr>
          <a:xfrm>
            <a:off x="756345" y="979649"/>
            <a:ext cx="1996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global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770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rtimiento de recetas completas">
  <p:cSld name="Surtimiento de recetas completa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8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8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8"/>
          <p:cNvSpPr>
            <a:spLocks noGrp="1"/>
          </p:cNvSpPr>
          <p:nvPr>
            <p:ph type="chart" idx="2"/>
          </p:nvPr>
        </p:nvSpPr>
        <p:spPr>
          <a:xfrm>
            <a:off x="129396" y="1600613"/>
            <a:ext cx="7703537" cy="451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8"/>
          <p:cNvSpPr/>
          <p:nvPr/>
        </p:nvSpPr>
        <p:spPr>
          <a:xfrm>
            <a:off x="3326853" y="6256187"/>
            <a:ext cx="172322" cy="195779"/>
          </a:xfrm>
          <a:prstGeom prst="rect">
            <a:avLst/>
          </a:prstGeom>
          <a:solidFill>
            <a:srgbClr val="F5DD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18"/>
          <p:cNvSpPr txBox="1"/>
          <p:nvPr/>
        </p:nvSpPr>
        <p:spPr>
          <a:xfrm>
            <a:off x="3437940" y="6217724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61% a 75%</a:t>
            </a:r>
            <a:endParaRPr/>
          </a:p>
        </p:txBody>
      </p:sp>
      <p:sp>
        <p:nvSpPr>
          <p:cNvPr id="47" name="Google Shape;47;p18"/>
          <p:cNvSpPr/>
          <p:nvPr/>
        </p:nvSpPr>
        <p:spPr>
          <a:xfrm>
            <a:off x="504972" y="6222768"/>
            <a:ext cx="172322" cy="195779"/>
          </a:xfrm>
          <a:prstGeom prst="rect">
            <a:avLst/>
          </a:prstGeom>
          <a:solidFill>
            <a:srgbClr val="F349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48;p18"/>
          <p:cNvSpPr txBox="1"/>
          <p:nvPr/>
        </p:nvSpPr>
        <p:spPr>
          <a:xfrm>
            <a:off x="616059" y="6184305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0% a 60%</a:t>
            </a:r>
            <a:endParaRPr/>
          </a:p>
        </p:txBody>
      </p:sp>
      <p:sp>
        <p:nvSpPr>
          <p:cNvPr id="49" name="Google Shape;49;p18"/>
          <p:cNvSpPr txBox="1"/>
          <p:nvPr/>
        </p:nvSpPr>
        <p:spPr>
          <a:xfrm>
            <a:off x="381582" y="6501459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18"/>
          <p:cNvSpPr/>
          <p:nvPr/>
        </p:nvSpPr>
        <p:spPr>
          <a:xfrm>
            <a:off x="5729416" y="6222768"/>
            <a:ext cx="172322" cy="195779"/>
          </a:xfrm>
          <a:prstGeom prst="rect">
            <a:avLst/>
          </a:prstGeom>
          <a:solidFill>
            <a:srgbClr val="87A9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18"/>
          <p:cNvSpPr txBox="1"/>
          <p:nvPr/>
        </p:nvSpPr>
        <p:spPr>
          <a:xfrm>
            <a:off x="5840503" y="6184305"/>
            <a:ext cx="136887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76% a 100%</a:t>
            </a:r>
            <a:endParaRPr/>
          </a:p>
        </p:txBody>
      </p:sp>
      <p:pic>
        <p:nvPicPr>
          <p:cNvPr id="52" name="Google Shape;5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/>
          <p:nvPr/>
        </p:nvSpPr>
        <p:spPr>
          <a:xfrm>
            <a:off x="909275" y="727809"/>
            <a:ext cx="5958663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 txBox="1"/>
          <p:nvPr/>
        </p:nvSpPr>
        <p:spPr>
          <a:xfrm>
            <a:off x="1041292" y="667025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2156663" y="701775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/>
          <p:nvPr/>
        </p:nvSpPr>
        <p:spPr>
          <a:xfrm>
            <a:off x="884505" y="234114"/>
            <a:ext cx="72442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Surtimiento de recetas completas</a:t>
            </a:r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8312856" y="2604375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12 de agosto 2024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18"/>
          <p:cNvSpPr txBox="1"/>
          <p:nvPr/>
        </p:nvSpPr>
        <p:spPr>
          <a:xfrm>
            <a:off x="8312856" y="2243141"/>
            <a:ext cx="3428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60" name="Google Shape;60;p18"/>
          <p:cNvCxnSpPr/>
          <p:nvPr/>
        </p:nvCxnSpPr>
        <p:spPr>
          <a:xfrm>
            <a:off x="8312856" y="2612473"/>
            <a:ext cx="3115593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1" name="Google Shape;61;p18"/>
          <p:cNvSpPr txBox="1"/>
          <p:nvPr/>
        </p:nvSpPr>
        <p:spPr>
          <a:xfrm>
            <a:off x="8231191" y="3351128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579 hospitales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18"/>
          <p:cNvSpPr txBox="1"/>
          <p:nvPr/>
        </p:nvSpPr>
        <p:spPr>
          <a:xfrm>
            <a:off x="8231191" y="3024370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63" name="Google Shape;63;p18"/>
          <p:cNvCxnSpPr/>
          <p:nvPr/>
        </p:nvCxnSpPr>
        <p:spPr>
          <a:xfrm>
            <a:off x="8231191" y="3348875"/>
            <a:ext cx="2058118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4" name="Google Shape;64;p18"/>
          <p:cNvSpPr txBox="1"/>
          <p:nvPr/>
        </p:nvSpPr>
        <p:spPr>
          <a:xfrm>
            <a:off x="8230871" y="3715644"/>
            <a:ext cx="23686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reportando</a:t>
            </a:r>
            <a:endParaRPr/>
          </a:p>
        </p:txBody>
      </p:sp>
      <p:cxnSp>
        <p:nvCxnSpPr>
          <p:cNvPr id="65" name="Google Shape;65;p18"/>
          <p:cNvCxnSpPr/>
          <p:nvPr/>
        </p:nvCxnSpPr>
        <p:spPr>
          <a:xfrm>
            <a:off x="8230871" y="4337734"/>
            <a:ext cx="2150802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6" name="Google Shape;66;p18"/>
          <p:cNvSpPr txBox="1"/>
          <p:nvPr/>
        </p:nvSpPr>
        <p:spPr>
          <a:xfrm>
            <a:off x="995356" y="1038233"/>
            <a:ext cx="1996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global </a:t>
            </a:r>
            <a:endParaRPr/>
          </a:p>
        </p:txBody>
      </p:sp>
      <p:sp>
        <p:nvSpPr>
          <p:cNvPr id="67" name="Google Shape;67;p18"/>
          <p:cNvSpPr txBox="1"/>
          <p:nvPr/>
        </p:nvSpPr>
        <p:spPr>
          <a:xfrm>
            <a:off x="8173441" y="4755263"/>
            <a:ext cx="26981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Porcentaje de recetas completas</a:t>
            </a:r>
            <a:endParaRPr/>
          </a:p>
        </p:txBody>
      </p:sp>
      <p:cxnSp>
        <p:nvCxnSpPr>
          <p:cNvPr id="68" name="Google Shape;68;p18"/>
          <p:cNvCxnSpPr/>
          <p:nvPr/>
        </p:nvCxnSpPr>
        <p:spPr>
          <a:xfrm>
            <a:off x="8173441" y="5386813"/>
            <a:ext cx="2426082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9" name="Google Shape;69;p18"/>
          <p:cNvSpPr txBox="1">
            <a:spLocks noGrp="1"/>
          </p:cNvSpPr>
          <p:nvPr>
            <p:ph type="body" idx="3"/>
          </p:nvPr>
        </p:nvSpPr>
        <p:spPr>
          <a:xfrm>
            <a:off x="8312856" y="5463319"/>
            <a:ext cx="1219146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4"/>
          </p:nvPr>
        </p:nvSpPr>
        <p:spPr>
          <a:xfrm>
            <a:off x="8303373" y="4388691"/>
            <a:ext cx="823374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5"/>
          </p:nvPr>
        </p:nvSpPr>
        <p:spPr>
          <a:xfrm>
            <a:off x="8863868" y="4390834"/>
            <a:ext cx="1219146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12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 de piezas recetadas en la consulta externa">
  <p:cSld name="Total de piezas recetadas en la consulta externa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9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9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371474" y="1459824"/>
            <a:ext cx="10770001" cy="488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/>
          <p:nvPr/>
        </p:nvSpPr>
        <p:spPr>
          <a:xfrm>
            <a:off x="756345" y="236391"/>
            <a:ext cx="8151681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Total de piezas recetadas en la consulta externa</a:t>
            </a:r>
            <a:endParaRPr/>
          </a:p>
        </p:txBody>
      </p:sp>
      <p:sp>
        <p:nvSpPr>
          <p:cNvPr id="78" name="Google Shape;78;p19"/>
          <p:cNvSpPr txBox="1"/>
          <p:nvPr/>
        </p:nvSpPr>
        <p:spPr>
          <a:xfrm>
            <a:off x="371474" y="65610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9758835" y="1253803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/>
          <p:nvPr/>
        </p:nvSpPr>
        <p:spPr>
          <a:xfrm>
            <a:off x="756345" y="667588"/>
            <a:ext cx="7288027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888362" y="60680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2003733" y="64155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/>
          <p:nvPr/>
        </p:nvSpPr>
        <p:spPr>
          <a:xfrm>
            <a:off x="756345" y="945781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19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centaje promedio de piezas surtidas en la consulta externa">
  <p:cSld name="Porcentaje promedio de piezas surtidas en la consulta externa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371475" y="1716681"/>
            <a:ext cx="10630822" cy="414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/>
          <p:nvPr/>
        </p:nvSpPr>
        <p:spPr>
          <a:xfrm>
            <a:off x="756345" y="172228"/>
            <a:ext cx="6244819" cy="7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Porcentaje promedio de piezas surtidas en la consulta externa</a:t>
            </a:r>
            <a:endParaRPr/>
          </a:p>
        </p:txBody>
      </p:sp>
      <p:sp>
        <p:nvSpPr>
          <p:cNvPr id="91" name="Google Shape;91;p20"/>
          <p:cNvSpPr txBox="1"/>
          <p:nvPr/>
        </p:nvSpPr>
        <p:spPr>
          <a:xfrm>
            <a:off x="421885" y="65002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92" name="Google Shape;92;p20"/>
          <p:cNvSpPr txBox="1"/>
          <p:nvPr/>
        </p:nvSpPr>
        <p:spPr>
          <a:xfrm>
            <a:off x="722896" y="1193399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pic>
        <p:nvPicPr>
          <p:cNvPr id="93" name="Google Shape;9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/>
          <p:nvPr/>
        </p:nvSpPr>
        <p:spPr>
          <a:xfrm>
            <a:off x="756345" y="919796"/>
            <a:ext cx="674027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888362" y="849776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2"/>
          </p:nvPr>
        </p:nvSpPr>
        <p:spPr>
          <a:xfrm>
            <a:off x="2003733" y="884526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9619657" y="1460786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964163" y="597519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2887743" y="597519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2379286" y="610029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455706" y="610029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052882"/>
            <a:ext cx="20764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05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7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portada_2">
  <p:cSld name="Subportada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descr="Texto, Carta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32660" y="5486400"/>
            <a:ext cx="2725445" cy="95878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314633" y="3248290"/>
            <a:ext cx="11562734" cy="204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 primer nivel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626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dades médicas de Primer Nivel">
  <p:cSld name="Unidades médicas de Primer Nivel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71475" y="1459825"/>
            <a:ext cx="7633726" cy="445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221071" y="6384538"/>
            <a:ext cx="1139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Fuente(s)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unidad médica,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888362" y="348261"/>
            <a:ext cx="5476777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Unidades médicas de primer nivel 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8142251" y="216791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25 de marzo de 2025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8142251" y="1810679"/>
            <a:ext cx="3268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116" name="Google Shape;116;p22"/>
          <p:cNvCxnSpPr/>
          <p:nvPr/>
        </p:nvCxnSpPr>
        <p:spPr>
          <a:xfrm>
            <a:off x="8142251" y="2165664"/>
            <a:ext cx="3221165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17" name="Google Shape;117;p22"/>
          <p:cNvSpPr txBox="1"/>
          <p:nvPr/>
        </p:nvSpPr>
        <p:spPr>
          <a:xfrm>
            <a:off x="8142251" y="296949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434 unidades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8142251" y="2597019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8142251" y="2967244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0" name="Google Shape;120;p22"/>
          <p:cNvSpPr txBox="1"/>
          <p:nvPr/>
        </p:nvSpPr>
        <p:spPr>
          <a:xfrm>
            <a:off x="8142251" y="3442541"/>
            <a:ext cx="2457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reportadas</a:t>
            </a:r>
            <a:endParaRPr/>
          </a:p>
        </p:txBody>
      </p:sp>
      <p:cxnSp>
        <p:nvCxnSpPr>
          <p:cNvPr id="121" name="Google Shape;121;p22"/>
          <p:cNvCxnSpPr/>
          <p:nvPr/>
        </p:nvCxnSpPr>
        <p:spPr>
          <a:xfrm>
            <a:off x="8142251" y="4042251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8142251" y="5217019"/>
            <a:ext cx="2457686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3" name="Google Shape;123;p22"/>
          <p:cNvSpPr txBox="1"/>
          <p:nvPr/>
        </p:nvSpPr>
        <p:spPr>
          <a:xfrm>
            <a:off x="8085100" y="4576995"/>
            <a:ext cx="2594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CLUES de reemplazo aceptados: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2"/>
          </p:nvPr>
        </p:nvSpPr>
        <p:spPr>
          <a:xfrm>
            <a:off x="8142251" y="404465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3"/>
          </p:nvPr>
        </p:nvSpPr>
        <p:spPr>
          <a:xfrm>
            <a:off x="8142251" y="520987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3658237" y="6063327"/>
            <a:ext cx="172322" cy="195779"/>
          </a:xfrm>
          <a:prstGeom prst="rect">
            <a:avLst/>
          </a:prstGeom>
          <a:solidFill>
            <a:srgbClr val="F5DD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769324" y="6024864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61% a 75%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836356" y="6029908"/>
            <a:ext cx="172322" cy="195779"/>
          </a:xfrm>
          <a:prstGeom prst="rect">
            <a:avLst/>
          </a:prstGeom>
          <a:solidFill>
            <a:srgbClr val="F349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947443" y="5991445"/>
            <a:ext cx="108585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0% a 60%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6060800" y="6029908"/>
            <a:ext cx="172322" cy="195779"/>
          </a:xfrm>
          <a:prstGeom prst="rect">
            <a:avLst/>
          </a:prstGeom>
          <a:solidFill>
            <a:srgbClr val="87A9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6171887" y="5991445"/>
            <a:ext cx="136887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76% a 100%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756345" y="901326"/>
            <a:ext cx="5339655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888362" y="840542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4"/>
          </p:nvPr>
        </p:nvSpPr>
        <p:spPr>
          <a:xfrm>
            <a:off x="2003733" y="875292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218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Unidades médicas de Primer Nivel">
  <p:cSld name="1_Unidades médicas de Primer Nivel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371475" y="1459824"/>
            <a:ext cx="7633726" cy="472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221071" y="6384538"/>
            <a:ext cx="1139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Fuente(s)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: Reporte desde cada unidad médica,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01725" y="334916"/>
            <a:ext cx="5476777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Unidades médicas de primer nivel 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8142251" y="216791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25 de marzo de 2025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142251" y="1810679"/>
            <a:ext cx="3268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Fecha de inicio de registros:</a:t>
            </a:r>
            <a:endParaRPr/>
          </a:p>
        </p:txBody>
      </p:sp>
      <p:cxnSp>
        <p:nvCxnSpPr>
          <p:cNvPr id="145" name="Google Shape;145;p23"/>
          <p:cNvCxnSpPr/>
          <p:nvPr/>
        </p:nvCxnSpPr>
        <p:spPr>
          <a:xfrm>
            <a:off x="8142251" y="2165664"/>
            <a:ext cx="3221165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6" name="Google Shape;146;p23"/>
          <p:cNvSpPr txBox="1"/>
          <p:nvPr/>
        </p:nvSpPr>
        <p:spPr>
          <a:xfrm>
            <a:off x="8142251" y="2969497"/>
            <a:ext cx="22866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434 unidades</a:t>
            </a:r>
            <a:endParaRPr sz="1600" b="1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8142251" y="2597019"/>
            <a:ext cx="2847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Tamaño muestral</a:t>
            </a:r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8142251" y="2967244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9" name="Google Shape;149;p23"/>
          <p:cNvSpPr txBox="1"/>
          <p:nvPr/>
        </p:nvSpPr>
        <p:spPr>
          <a:xfrm>
            <a:off x="8142251" y="3442541"/>
            <a:ext cx="24576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Unidades médicas reportadas</a:t>
            </a:r>
            <a:endParaRPr/>
          </a:p>
        </p:txBody>
      </p:sp>
      <p:cxnSp>
        <p:nvCxnSpPr>
          <p:cNvPr id="150" name="Google Shape;150;p23"/>
          <p:cNvCxnSpPr/>
          <p:nvPr/>
        </p:nvCxnSpPr>
        <p:spPr>
          <a:xfrm>
            <a:off x="8142251" y="4042251"/>
            <a:ext cx="2173600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151" name="Google Shape;151;p23"/>
          <p:cNvCxnSpPr/>
          <p:nvPr/>
        </p:nvCxnSpPr>
        <p:spPr>
          <a:xfrm>
            <a:off x="8142251" y="5217019"/>
            <a:ext cx="2457686" cy="0"/>
          </a:xfrm>
          <a:prstGeom prst="straightConnector1">
            <a:avLst/>
          </a:prstGeom>
          <a:noFill/>
          <a:ln w="9525" cap="flat" cmpd="sng">
            <a:solidFill>
              <a:srgbClr val="DEC38E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52" name="Google Shape;152;p23"/>
          <p:cNvSpPr txBox="1"/>
          <p:nvPr/>
        </p:nvSpPr>
        <p:spPr>
          <a:xfrm>
            <a:off x="8085100" y="4576995"/>
            <a:ext cx="2594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BF9237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CLUES de reemplazo aceptados: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2"/>
          </p:nvPr>
        </p:nvSpPr>
        <p:spPr>
          <a:xfrm>
            <a:off x="8142251" y="404465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3"/>
          </p:nvPr>
        </p:nvSpPr>
        <p:spPr>
          <a:xfrm>
            <a:off x="8142251" y="5209870"/>
            <a:ext cx="1943356" cy="2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756345" y="716601"/>
            <a:ext cx="5339655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888362" y="655817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4"/>
          </p:nvPr>
        </p:nvSpPr>
        <p:spPr>
          <a:xfrm>
            <a:off x="2003733" y="690567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2533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ndencia semanal de surtimiento de recetas completas">
  <p:cSld name="Tendencia semanal de surtimiento de recetas completa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802371" y="248633"/>
            <a:ext cx="11807521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Tendencia semanal de surtimiento de recetas completas</a:t>
            </a:r>
            <a:endParaRPr/>
          </a:p>
        </p:txBody>
      </p:sp>
      <p:sp>
        <p:nvSpPr>
          <p:cNvPr id="163" name="Google Shape;163;p24"/>
          <p:cNvSpPr>
            <a:spLocks noGrp="1"/>
          </p:cNvSpPr>
          <p:nvPr>
            <p:ph type="chart" idx="2"/>
          </p:nvPr>
        </p:nvSpPr>
        <p:spPr>
          <a:xfrm>
            <a:off x="647315" y="1149209"/>
            <a:ext cx="10841679" cy="51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453603" y="6387012"/>
            <a:ext cx="108488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Reporte desde cada hospital, a través de la plataforma  </a:t>
            </a:r>
            <a:r>
              <a:rPr lang="es-MX" sz="1200" u="sng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https://at-sai.imssbienestar.gob.mx/</a:t>
            </a:r>
            <a:endParaRPr sz="1200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802371" y="690849"/>
            <a:ext cx="8433993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934388" y="630065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2049759" y="664815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907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tal de piezas recetadas en la consulta externa">
  <p:cSld name="1_Total de piezas recetadas en la consulta externa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71474" y="1459825"/>
            <a:ext cx="10770001" cy="4775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756345" y="236391"/>
            <a:ext cx="8151681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Total de piezas recetadas en la consulta externa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371474" y="65610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9758835" y="1253803"/>
            <a:ext cx="1382640" cy="14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80" b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Tiempo de espera</a:t>
            </a:r>
            <a:endParaRPr sz="1280" b="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756345" y="667588"/>
            <a:ext cx="7288027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888362" y="606804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2"/>
          </p:nvPr>
        </p:nvSpPr>
        <p:spPr>
          <a:xfrm>
            <a:off x="2003733" y="641554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756345" y="945781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C0C0C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2887743" y="622535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2379286" y="635045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455706" y="635045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303042"/>
            <a:ext cx="2076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964163" y="622535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191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orcentaje promedio de piezas surtidas en la consulta externa">
  <p:cSld name="1_Porcentaje promedio de piezas surtidas en la consulta externa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0" y="0"/>
            <a:ext cx="11611992" cy="685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011" y="193989"/>
            <a:ext cx="1518328" cy="42641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371475" y="1716681"/>
            <a:ext cx="10630822" cy="414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756345" y="172228"/>
            <a:ext cx="6244819" cy="7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 b="1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Porcentaje promedio de piezas surtidas en la consulta externa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421885" y="6500224"/>
            <a:ext cx="8813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Fuente: </a:t>
            </a:r>
            <a:r>
              <a:rPr lang="es-MX" sz="1200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 https://at-sai.imssbienestar.gob.mx/ y estimaciones propias 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722896" y="1193399"/>
            <a:ext cx="32672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Reporte modelo centinela</a:t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274482"/>
            <a:ext cx="573538" cy="4932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/>
          <p:nvPr/>
        </p:nvSpPr>
        <p:spPr>
          <a:xfrm>
            <a:off x="756345" y="919796"/>
            <a:ext cx="6740270" cy="278542"/>
          </a:xfrm>
          <a:prstGeom prst="roundRect">
            <a:avLst>
              <a:gd name="adj" fmla="val 50000"/>
            </a:avLst>
          </a:prstGeom>
          <a:solidFill>
            <a:srgbClr val="C7A3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888362" y="849776"/>
            <a:ext cx="14240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Al corte: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2"/>
          </p:nvPr>
        </p:nvSpPr>
        <p:spPr>
          <a:xfrm>
            <a:off x="2003733" y="884526"/>
            <a:ext cx="2143897" cy="28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964163" y="5975194"/>
            <a:ext cx="11608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Claves GEIS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2887743" y="5975194"/>
            <a:ext cx="14334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0C0C0C"/>
                </a:solidFill>
                <a:latin typeface="Noto Sans"/>
                <a:ea typeface="Noto Sans"/>
                <a:cs typeface="Noto Sans"/>
                <a:sym typeface="Noto Sans"/>
              </a:rPr>
              <a:t>Medicamentos</a:t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2379286" y="6100298"/>
            <a:ext cx="508457" cy="60806"/>
          </a:xfrm>
          <a:prstGeom prst="rect">
            <a:avLst/>
          </a:prstGeom>
          <a:solidFill>
            <a:srgbClr val="1CA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455706" y="6100298"/>
            <a:ext cx="508457" cy="6080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763" y="6052882"/>
            <a:ext cx="20764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7423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7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2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3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sz="4000" b="1" i="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/>
              <a:t>Título Noto Sans 1 piso 40 </a:t>
            </a:r>
            <a:r>
              <a:rPr lang="es-ES" err="1"/>
              <a:t>pts</a:t>
            </a:r>
            <a:br>
              <a:rPr lang="es-ES"/>
            </a:br>
            <a:r>
              <a:rPr lang="es-ES"/>
              <a:t>Título Noto Sans 2 pisos 40 </a:t>
            </a:r>
            <a:r>
              <a:rPr lang="es-ES" err="1"/>
              <a:t>pts</a:t>
            </a:r>
            <a:endParaRPr lang="es-MX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 b="0" i="0">
                <a:solidFill>
                  <a:srgbClr val="6E152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303110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21021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98" r:id="rId13"/>
    <p:sldLayoutId id="214748371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2B4F-AD2F-1558-7ED2-0727B218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B917F4F-FEED-DF05-FD0B-F4B79D3DC029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A321547-CC88-627A-C864-355638445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9" name="Marcador de contenido 7">
              <a:extLst>
                <a:ext uri="{FF2B5EF4-FFF2-40B4-BE49-F238E27FC236}">
                  <a16:creationId xmlns:a16="http://schemas.microsoft.com/office/drawing/2014/main" id="{F4E267CE-38D5-FC81-2C1C-1351076F6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FDFABB37-1E10-7030-2255-02EFAF9D4989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DD519D2-72F7-CBF9-5C53-6068D995F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10" name="Marcador de contenido 7">
              <a:extLst>
                <a:ext uri="{FF2B5EF4-FFF2-40B4-BE49-F238E27FC236}">
                  <a16:creationId xmlns:a16="http://schemas.microsoft.com/office/drawing/2014/main" id="{A2B7E9C8-506A-9267-C29B-FEC8134A8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80F148B2-9497-5291-D373-9B9D2DB23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77"/>
          <a:stretch>
            <a:fillRect/>
          </a:stretch>
        </p:blipFill>
        <p:spPr>
          <a:xfrm>
            <a:off x="443017" y="210808"/>
            <a:ext cx="2483432" cy="75198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4E849507-515A-D53D-6F58-729AF2A92F3B}"/>
              </a:ext>
            </a:extLst>
          </p:cNvPr>
          <p:cNvSpPr txBox="1">
            <a:spLocks/>
          </p:cNvSpPr>
          <p:nvPr/>
        </p:nvSpPr>
        <p:spPr>
          <a:xfrm>
            <a:off x="1684733" y="1754658"/>
            <a:ext cx="8994139" cy="1526775"/>
          </a:xfrm>
          <a:prstGeom prst="rect">
            <a:avLst/>
          </a:prstGeom>
          <a:noFill/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9C2148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>
                <a:solidFill>
                  <a:srgbClr val="366A5E"/>
                </a:solidFill>
              </a:rPr>
              <a:t>Evidencia fotográfica y de video:</a:t>
            </a:r>
            <a:br>
              <a:rPr lang="es-MX">
                <a:solidFill>
                  <a:srgbClr val="366A5E"/>
                </a:solidFill>
              </a:rPr>
            </a:br>
            <a:r>
              <a:rPr lang="es-MX" sz="2800" b="0">
                <a:solidFill>
                  <a:srgbClr val="366A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“Picking y packing” para primer nivel de </a:t>
            </a:r>
            <a:br>
              <a:rPr lang="es-MX" sz="2800" b="0">
                <a:solidFill>
                  <a:srgbClr val="366A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s-MX" sz="2800" b="0">
                <a:solidFill>
                  <a:srgbClr val="366A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atención médica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C65F2E7-599D-DCF9-921E-FAD0E8B25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733" y="3460817"/>
            <a:ext cx="8994139" cy="483861"/>
          </a:xfrm>
        </p:spPr>
        <p:txBody>
          <a:bodyPr/>
          <a:lstStyle/>
          <a:p>
            <a:r>
              <a:rPr lang="es-MX" b="1">
                <a:solidFill>
                  <a:srgbClr val="366A5E"/>
                </a:solidFill>
              </a:rPr>
              <a:t>Día 1: 29 de junio de 2026</a:t>
            </a:r>
          </a:p>
        </p:txBody>
      </p:sp>
    </p:spTree>
    <p:extLst>
      <p:ext uri="{BB962C8B-B14F-4D97-AF65-F5344CB8AC3E}">
        <p14:creationId xmlns:p14="http://schemas.microsoft.com/office/powerpoint/2010/main" val="356257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81B29-5B2B-0059-89E5-543A8EAC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2669059"/>
            <a:ext cx="11410122" cy="612374"/>
          </a:xfrm>
        </p:spPr>
        <p:txBody>
          <a:bodyPr>
            <a:normAutofit fontScale="90000"/>
          </a:bodyPr>
          <a:lstStyle/>
          <a:p>
            <a:r>
              <a:rPr lang="es-MX" sz="4400" b="0"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rPr>
              <a:t>Región Suroeste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6772127-C7D0-4F13-21B9-B7BD2095AAB0}"/>
              </a:ext>
            </a:extLst>
          </p:cNvPr>
          <p:cNvGrpSpPr/>
          <p:nvPr/>
        </p:nvGrpSpPr>
        <p:grpSpPr>
          <a:xfrm>
            <a:off x="8617133" y="316800"/>
            <a:ext cx="3357519" cy="540000"/>
            <a:chOff x="1290830" y="3206105"/>
            <a:chExt cx="3357519" cy="540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0854BCB-E0B6-BF6C-0617-F4E41474B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437" y="3351587"/>
              <a:ext cx="1398912" cy="392881"/>
            </a:xfrm>
            <a:prstGeom prst="rect">
              <a:avLst/>
            </a:prstGeom>
          </p:spPr>
        </p:pic>
        <p:pic>
          <p:nvPicPr>
            <p:cNvPr id="9" name="Marcador de contenido 7">
              <a:extLst>
                <a:ext uri="{FF2B5EF4-FFF2-40B4-BE49-F238E27FC236}">
                  <a16:creationId xmlns:a16="http://schemas.microsoft.com/office/drawing/2014/main" id="{C6D9AA6B-EF6A-613A-53F0-099F3152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4" t="7704" r="38464" b="9015"/>
            <a:stretch>
              <a:fillRect/>
            </a:stretch>
          </p:blipFill>
          <p:spPr>
            <a:xfrm>
              <a:off x="1290830" y="3206105"/>
              <a:ext cx="2040803" cy="540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2EB5-B161-747A-3388-61CFD7EB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CE336A9-2998-3230-6CE0-7A02C30BC98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266" y="380710"/>
            <a:ext cx="3424424" cy="0"/>
          </a:xfrm>
          <a:prstGeom prst="line">
            <a:avLst/>
          </a:prstGeom>
          <a:ln w="28575">
            <a:solidFill>
              <a:srgbClr val="DACAA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D048EB27-9D94-3658-29AF-59819D52C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266" y="76672"/>
            <a:ext cx="3683341" cy="32013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ts val="4800"/>
              <a:defRPr/>
            </a:pPr>
            <a:r>
              <a:rPr kumimoji="0" lang="es-MX" sz="17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Noto Sans"/>
              </a:rPr>
              <a:t>Día 1: </a:t>
            </a:r>
            <a:r>
              <a:rPr lang="es-MX" sz="1700" b="1" kern="0">
                <a:solidFill>
                  <a:schemeClr val="tx1">
                    <a:lumMod val="65000"/>
                    <a:lumOff val="35000"/>
                  </a:schemeClr>
                </a:solidFill>
                <a:latin typeface="Noto Sans"/>
                <a:ea typeface="Noto Sans"/>
                <a:cs typeface="Noto Sans"/>
              </a:rPr>
              <a:t>29 de junio </a:t>
            </a:r>
            <a:r>
              <a:rPr kumimoji="0" lang="es-MX" sz="17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Noto Sans"/>
                <a:ea typeface="Noto Sans"/>
                <a:cs typeface="Noto Sans"/>
              </a:rPr>
              <a:t>de 2026 </a:t>
            </a:r>
            <a:endParaRPr kumimoji="0" lang="es-MX" sz="17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9841572E-C222-66C3-04F7-2C0E402463C2}"/>
              </a:ext>
            </a:extLst>
          </p:cNvPr>
          <p:cNvSpPr txBox="1">
            <a:spLocks/>
          </p:cNvSpPr>
          <p:nvPr/>
        </p:nvSpPr>
        <p:spPr>
          <a:xfrm>
            <a:off x="1303459" y="761421"/>
            <a:ext cx="4522709" cy="355857"/>
          </a:xfrm>
          <a:prstGeom prst="rect">
            <a:avLst/>
          </a:prstGeom>
          <a:solidFill>
            <a:srgbClr val="4B9382"/>
          </a:solid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es-MX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sz="1800" b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Baja California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1A6D1C70-3C5C-40AB-76FA-0EA2E1DB8FB5}"/>
              </a:ext>
            </a:extLst>
          </p:cNvPr>
          <p:cNvSpPr txBox="1">
            <a:spLocks/>
          </p:cNvSpPr>
          <p:nvPr/>
        </p:nvSpPr>
        <p:spPr>
          <a:xfrm>
            <a:off x="6260941" y="761421"/>
            <a:ext cx="4522709" cy="355857"/>
          </a:xfrm>
          <a:prstGeom prst="rect">
            <a:avLst/>
          </a:prstGeom>
          <a:solidFill>
            <a:srgbClr val="4B9382"/>
          </a:solid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es-MX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sz="1800" b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Baja California Sur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8D9471CA-4680-2B9A-9613-1A01E25FE62D}"/>
              </a:ext>
            </a:extLst>
          </p:cNvPr>
          <p:cNvSpPr txBox="1">
            <a:spLocks/>
          </p:cNvSpPr>
          <p:nvPr/>
        </p:nvSpPr>
        <p:spPr>
          <a:xfrm>
            <a:off x="1303459" y="3765287"/>
            <a:ext cx="4522709" cy="355857"/>
          </a:xfrm>
          <a:prstGeom prst="rect">
            <a:avLst/>
          </a:prstGeom>
          <a:solidFill>
            <a:srgbClr val="4B9382"/>
          </a:solid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es-MX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sz="1800" b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Colima</a:t>
            </a:r>
          </a:p>
        </p:txBody>
      </p:sp>
      <p:sp>
        <p:nvSpPr>
          <p:cNvPr id="38" name="Marcador de contenido 2">
            <a:extLst>
              <a:ext uri="{FF2B5EF4-FFF2-40B4-BE49-F238E27FC236}">
                <a16:creationId xmlns:a16="http://schemas.microsoft.com/office/drawing/2014/main" id="{285DEEBB-1CAE-7A9D-2BF0-B5335028189F}"/>
              </a:ext>
            </a:extLst>
          </p:cNvPr>
          <p:cNvSpPr txBox="1">
            <a:spLocks/>
          </p:cNvSpPr>
          <p:nvPr/>
        </p:nvSpPr>
        <p:spPr>
          <a:xfrm>
            <a:off x="6260941" y="3765287"/>
            <a:ext cx="4522709" cy="355857"/>
          </a:xfrm>
          <a:prstGeom prst="rect">
            <a:avLst/>
          </a:prstGeom>
          <a:solidFill>
            <a:srgbClr val="4B9382"/>
          </a:solid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es-MX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sz="1800" b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Nayarit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583E4F-34D0-AF50-C082-FA0FA93C40EF}"/>
              </a:ext>
            </a:extLst>
          </p:cNvPr>
          <p:cNvSpPr/>
          <p:nvPr/>
        </p:nvSpPr>
        <p:spPr>
          <a:xfrm>
            <a:off x="1303459" y="1187566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FOTO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80B8F5-36DD-DDAC-AFE1-70B57AEF94C0}"/>
              </a:ext>
            </a:extLst>
          </p:cNvPr>
          <p:cNvSpPr/>
          <p:nvPr/>
        </p:nvSpPr>
        <p:spPr>
          <a:xfrm>
            <a:off x="3630168" y="1187566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VIDEO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DA00A0D-4DD7-F429-9AA0-81A2FC8DF8D9}"/>
              </a:ext>
            </a:extLst>
          </p:cNvPr>
          <p:cNvSpPr/>
          <p:nvPr/>
        </p:nvSpPr>
        <p:spPr>
          <a:xfrm>
            <a:off x="6260941" y="1187566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FOTO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5DB6A1-96BD-A5D6-5F6A-37E30CE4D493}"/>
              </a:ext>
            </a:extLst>
          </p:cNvPr>
          <p:cNvSpPr/>
          <p:nvPr/>
        </p:nvSpPr>
        <p:spPr>
          <a:xfrm>
            <a:off x="8587650" y="1187566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VIDEO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D58B84-894E-C8A5-514F-8C13D4739F27}"/>
              </a:ext>
            </a:extLst>
          </p:cNvPr>
          <p:cNvSpPr/>
          <p:nvPr/>
        </p:nvSpPr>
        <p:spPr>
          <a:xfrm>
            <a:off x="1303459" y="4203239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FOTO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880E8D-2A5D-0EA2-880A-EBA3560EF921}"/>
              </a:ext>
            </a:extLst>
          </p:cNvPr>
          <p:cNvSpPr/>
          <p:nvPr/>
        </p:nvSpPr>
        <p:spPr>
          <a:xfrm>
            <a:off x="3630168" y="4203239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VIDEO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93B0542-358C-2743-5143-66B2F709CD05}"/>
              </a:ext>
            </a:extLst>
          </p:cNvPr>
          <p:cNvSpPr/>
          <p:nvPr/>
        </p:nvSpPr>
        <p:spPr>
          <a:xfrm>
            <a:off x="6260941" y="4203239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FOTO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F15CDCE-A7E3-4320-4DE2-C372F1114207}"/>
              </a:ext>
            </a:extLst>
          </p:cNvPr>
          <p:cNvSpPr/>
          <p:nvPr/>
        </p:nvSpPr>
        <p:spPr>
          <a:xfrm>
            <a:off x="8587650" y="4203239"/>
            <a:ext cx="2196000" cy="2196211"/>
          </a:xfrm>
          <a:prstGeom prst="rect">
            <a:avLst/>
          </a:prstGeom>
          <a:solidFill>
            <a:srgbClr val="A2B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latin typeface="Noto Sans "/>
                <a:ea typeface="Noto Sans" panose="020B0502040504020204" pitchFamily="34" charset="0"/>
                <a:cs typeface="Noto Sans" panose="020B0502040504020204" pitchFamily="34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83157942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79532AD136DFF46B3C7024F7FAEBF78" ma:contentTypeVersion="17" ma:contentTypeDescription="Crear nuevo documento." ma:contentTypeScope="" ma:versionID="3cbf90bf5d23c14599d52f07becef42a">
  <xsd:schema xmlns:xsd="http://www.w3.org/2001/XMLSchema" xmlns:xs="http://www.w3.org/2001/XMLSchema" xmlns:p="http://schemas.microsoft.com/office/2006/metadata/properties" xmlns:ns2="b7df4e38-5373-4f35-b605-b15f4c52f217" xmlns:ns3="cc4dfca4-e7cf-409c-b544-604abbb2567b" targetNamespace="http://schemas.microsoft.com/office/2006/metadata/properties" ma:root="true" ma:fieldsID="41c0c0ad38e9feb3f19f8e8c7f87f3ab" ns2:_="" ns3:_="">
    <xsd:import namespace="b7df4e38-5373-4f35-b605-b15f4c52f217"/>
    <xsd:import namespace="cc4dfca4-e7cf-409c-b544-604abbb25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_x002e_pd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f4e38-5373-4f35-b605-b15f4c52f2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_x002e_pdf" ma:index="21" nillable="true" ma:displayName=".pdf" ma:format="Dropdown" ma:list="3078dc57-72e8-4b1e-bf82-5c91352164cd" ma:internalName="_x002e_pdf" ma:showField="Title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dfca4-e7cf-409c-b544-604abbb2567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f1fedf-d220-4eea-954f-5b043870bef5}" ma:internalName="TaxCatchAll" ma:showField="CatchAllData" ma:web="cc4dfca4-e7cf-409c-b544-604abbb25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4dfca4-e7cf-409c-b544-604abbb2567b" xsi:nil="true"/>
    <_x002e_pdf xmlns="b7df4e38-5373-4f35-b605-b15f4c52f217" xsi:nil="true"/>
    <lcf76f155ced4ddcb4097134ff3c332f xmlns="b7df4e38-5373-4f35-b605-b15f4c52f2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657295-E5CF-4959-8F72-4FEEEECAE6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304E5-05BD-441E-B79F-8CEC13AC84FD}">
  <ds:schemaRefs>
    <ds:schemaRef ds:uri="b7df4e38-5373-4f35-b605-b15f4c52f217"/>
    <ds:schemaRef ds:uri="cc4dfca4-e7cf-409c-b544-604abbb256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203B0CA-AFFB-4253-AEB1-808A630FF330}">
  <ds:schemaRefs>
    <ds:schemaRef ds:uri="b7df4e38-5373-4f35-b605-b15f4c52f217"/>
    <ds:schemaRef ds:uri="cc4dfca4-e7cf-409c-b544-604abbb2567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</Words>
  <Application>Microsoft Office PowerPoint</Application>
  <PresentationFormat>Panorámica</PresentationFormat>
  <Paragraphs>17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2" baseType="lpstr">
      <vt:lpstr>Aptos</vt:lpstr>
      <vt:lpstr>Arial</vt:lpstr>
      <vt:lpstr>Noto Sans</vt:lpstr>
      <vt:lpstr>Noto Sans </vt:lpstr>
      <vt:lpstr>Noto Sans Black</vt:lpstr>
      <vt:lpstr>Noto Sans Medium</vt:lpstr>
      <vt:lpstr>Noto Sans SemiBold</vt:lpstr>
      <vt:lpstr>Play</vt:lpstr>
      <vt:lpstr>1_Tema de Office</vt:lpstr>
      <vt:lpstr>Presentación de PowerPoint</vt:lpstr>
      <vt:lpstr>Región Suroeste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Isaac González Valderrama</dc:creator>
  <cp:lastModifiedBy>Jesus Samuel Hernández Hernández</cp:lastModifiedBy>
  <cp:revision>362</cp:revision>
  <dcterms:created xsi:type="dcterms:W3CDTF">2025-08-05T22:07:13Z</dcterms:created>
  <dcterms:modified xsi:type="dcterms:W3CDTF">2026-09-07T20:27:15Z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0x010100C79532AD136DFF46B3C7024F7FAEBF78</vt:lpwstr>
  </property>
  <property fmtid="{D5CDD505-2E9C-101B-9397-08002B2CF9AE}" pid="3" name="MediaServiceImageTags">
    <vt:lpwstr/>
  </property>
</Properties>
</file>